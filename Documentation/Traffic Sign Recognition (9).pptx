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DM Sans" charset="1" panose="00000000000000000000"/>
      <p:regular r:id="rId23"/>
    </p:embeddedFont>
    <p:embeddedFont>
      <p:font typeface="Roboto Mono" charset="1" panose="00000000000000000000"/>
      <p:regular r:id="rId24"/>
    </p:embeddedFont>
    <p:embeddedFont>
      <p:font typeface="DM Sans Bold" charset="1" panose="00000000000000000000"/>
      <p:regular r:id="rId25"/>
    </p:embeddedFont>
    <p:embeddedFont>
      <p:font typeface="Roboto Mono Bold" charset="1" panose="00000000000000000000"/>
      <p:regular r:id="rId26"/>
    </p:embeddedFont>
    <p:embeddedFont>
      <p:font typeface="Arimo" charset="1" panose="020B0604020202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73257" y="3790516"/>
            <a:ext cx="6480247" cy="5700593"/>
          </a:xfrm>
          <a:custGeom>
            <a:avLst/>
            <a:gdLst/>
            <a:ahLst/>
            <a:cxnLst/>
            <a:rect r="r" b="b" t="t" l="l"/>
            <a:pathLst>
              <a:path h="5700593" w="6480247">
                <a:moveTo>
                  <a:pt x="0" y="0"/>
                </a:moveTo>
                <a:lnTo>
                  <a:pt x="6480247" y="0"/>
                </a:lnTo>
                <a:lnTo>
                  <a:pt x="6480247" y="5700592"/>
                </a:lnTo>
                <a:lnTo>
                  <a:pt x="0" y="57005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17428" y="7352095"/>
            <a:ext cx="8564130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Presented by                                    Guided by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Aswathy I                                           Prof. Natheera Beevi M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TKM23MCA-2022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Date : 08/11/24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17428" y="0"/>
            <a:ext cx="13685717" cy="5802606"/>
            <a:chOff x="0" y="0"/>
            <a:chExt cx="18247623" cy="77368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059783"/>
              <a:ext cx="18247623" cy="6677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200"/>
                </a:lnSpc>
              </a:pPr>
              <a:r>
                <a:rPr lang="en-US" sz="110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Traffic Sign Recognition System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16366097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13789" y="0"/>
            <a:ext cx="3667004" cy="3667004"/>
          </a:xfrm>
          <a:custGeom>
            <a:avLst/>
            <a:gdLst/>
            <a:ahLst/>
            <a:cxnLst/>
            <a:rect r="r" b="b" t="t" l="l"/>
            <a:pathLst>
              <a:path h="3667004" w="3667004">
                <a:moveTo>
                  <a:pt x="0" y="0"/>
                </a:moveTo>
                <a:lnTo>
                  <a:pt x="3667005" y="0"/>
                </a:lnTo>
                <a:lnTo>
                  <a:pt x="3667005" y="3667004"/>
                </a:lnTo>
                <a:lnTo>
                  <a:pt x="0" y="36670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0908" y="1311158"/>
            <a:ext cx="10822525" cy="1930664"/>
            <a:chOff x="0" y="0"/>
            <a:chExt cx="14430034" cy="257421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4430034" cy="1635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0"/>
                </a:lnSpc>
              </a:pPr>
              <a:r>
                <a:rPr lang="en-US" sz="8000">
                  <a:solidFill>
                    <a:srgbClr val="12121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INTRODUCTION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17535"/>
              <a:ext cx="14430034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33375" y="3830780"/>
            <a:ext cx="17383069" cy="6456220"/>
            <a:chOff x="0" y="0"/>
            <a:chExt cx="23177425" cy="860829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23177425" cy="7495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34871" indent="-317435" lvl="1">
                <a:lnSpc>
                  <a:spcPts val="4116"/>
                </a:lnSpc>
                <a:buFont typeface="Arial"/>
                <a:buChar char="•"/>
              </a:pPr>
              <a:r>
                <a:rPr lang="en-US" sz="2940" spc="44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TRAFFIC SIGNS INCLUDE A WIDE RANGE OF SYMBOLS AND INSTRUCTIONS, MANY OF WHICH ARE NOT COMMONLY UNDERSTOOD BY THE GENERAL PUBLIC.</a:t>
              </a:r>
            </a:p>
            <a:p>
              <a:pPr algn="l">
                <a:lnSpc>
                  <a:spcPts val="4116"/>
                </a:lnSpc>
              </a:pPr>
            </a:p>
            <a:p>
              <a:pPr algn="l" marL="634871" indent="-317435" lvl="1">
                <a:lnSpc>
                  <a:spcPts val="4116"/>
                </a:lnSpc>
                <a:buFont typeface="Arial"/>
                <a:buChar char="•"/>
              </a:pPr>
              <a:r>
                <a:rPr lang="en-US" sz="2940" spc="44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ENCOUNTERING UNFAMILIAR TRAFFIC SIGNS OFTEN LEADS TO DRIVERS IGNORING THEM, WHICH CAN RESULT IN ACCIDENTS.</a:t>
              </a:r>
            </a:p>
            <a:p>
              <a:pPr algn="l">
                <a:lnSpc>
                  <a:spcPts val="4116"/>
                </a:lnSpc>
              </a:pPr>
            </a:p>
            <a:p>
              <a:pPr algn="l" marL="634871" indent="-317435" lvl="1">
                <a:lnSpc>
                  <a:spcPts val="4116"/>
                </a:lnSpc>
                <a:buFont typeface="Arial"/>
                <a:buChar char="•"/>
              </a:pPr>
              <a:r>
                <a:rPr lang="en-US" sz="2940" spc="44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TSR SYSTEMS ENHANCE DRIVING SAFETY BY MITIGATING THE RISKS ASSOCIATED WITH MISINTERPRETING OR OVERLOOKING TRAFFIC SIGNS.</a:t>
              </a:r>
            </a:p>
            <a:p>
              <a:pPr algn="l">
                <a:lnSpc>
                  <a:spcPts val="4116"/>
                </a:lnSpc>
              </a:pPr>
            </a:p>
            <a:p>
              <a:pPr algn="l" marL="634871" indent="-317435" lvl="1">
                <a:lnSpc>
                  <a:spcPts val="4116"/>
                </a:lnSpc>
                <a:buFont typeface="Arial"/>
                <a:buChar char="•"/>
              </a:pPr>
              <a:r>
                <a:rPr lang="en-US" sz="2940" spc="44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THE DATASET USED IS GERMAN TRAFFIC SIGN RECOGNITION BENCHMARK (GTSRB) DATASET WITH 50,000 IMAGES, THE MODEL IS TRAINED TO RECOGNIZE 43 DIFFERENT SIGNS.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8097153"/>
              <a:ext cx="23177425" cy="5111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93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27373" y="194094"/>
            <a:ext cx="4548022" cy="3980491"/>
          </a:xfrm>
          <a:custGeom>
            <a:avLst/>
            <a:gdLst/>
            <a:ahLst/>
            <a:cxnLst/>
            <a:rect r="r" b="b" t="t" l="l"/>
            <a:pathLst>
              <a:path h="3980491" w="4548022">
                <a:moveTo>
                  <a:pt x="0" y="0"/>
                </a:moveTo>
                <a:lnTo>
                  <a:pt x="4548022" y="0"/>
                </a:lnTo>
                <a:lnTo>
                  <a:pt x="4548022" y="3980492"/>
                </a:lnTo>
                <a:lnTo>
                  <a:pt x="0" y="3980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37552" y="1638277"/>
            <a:ext cx="10822525" cy="1930664"/>
            <a:chOff x="0" y="0"/>
            <a:chExt cx="14430034" cy="257421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4430034" cy="1635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0"/>
                </a:lnSpc>
              </a:pPr>
              <a:r>
                <a:rPr lang="en-US" sz="8000">
                  <a:solidFill>
                    <a:srgbClr val="12121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PROBLEM STATEMENT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17535"/>
              <a:ext cx="14430034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01273" y="5143500"/>
            <a:ext cx="16230600" cy="4558293"/>
            <a:chOff x="0" y="0"/>
            <a:chExt cx="21640800" cy="607772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57150"/>
              <a:ext cx="21640800" cy="49323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67"/>
                </a:lnSpc>
              </a:pPr>
              <a:r>
                <a:rPr lang="en-US" sz="3047" spc="45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THE OBJECTIVE IS TO DEVELOP A TRAFFIC SIGN RECOGNITION (TSR) SYSTEM MODEL UTILIZING DEEP LEARNING MODELS LIKE </a:t>
              </a:r>
              <a:r>
                <a:rPr lang="en-US" b="true" sz="3047" spc="45">
                  <a:solidFill>
                    <a:srgbClr val="12121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CNN, ALEXNET</a:t>
              </a:r>
              <a:r>
                <a:rPr lang="en-US" sz="3047" spc="45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 AND </a:t>
              </a:r>
              <a:r>
                <a:rPr lang="en-US" b="true" sz="3047" spc="45">
                  <a:solidFill>
                    <a:srgbClr val="12121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VGG19</a:t>
              </a:r>
              <a:r>
                <a:rPr lang="en-US" sz="3047" spc="45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 ALGORITHM AND FINDING THE BEST MODEL.</a:t>
              </a:r>
            </a:p>
            <a:p>
              <a:pPr algn="l">
                <a:lnSpc>
                  <a:spcPts val="4267"/>
                </a:lnSpc>
              </a:pPr>
            </a:p>
            <a:p>
              <a:pPr algn="l">
                <a:lnSpc>
                  <a:spcPts val="4267"/>
                </a:lnSpc>
              </a:pPr>
              <a:r>
                <a:rPr lang="en-US" sz="3047" spc="45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THIS SYSTEM AIMS TO SIGNIFICANTLY ENHANCE RECOGNITION ACCURACY AND REDUCE PROCESSING TIME, ULTIMATELY IMPROVING THE CORRECT RECOGNITION RATE OF TRAFFIC SIGNS.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5539790"/>
              <a:ext cx="21640800" cy="5379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13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314017" y="1758060"/>
          <a:ext cx="15659966" cy="8163691"/>
        </p:xfrm>
        <a:graphic>
          <a:graphicData uri="http://schemas.openxmlformats.org/drawingml/2006/table">
            <a:tbl>
              <a:tblPr/>
              <a:tblGrid>
                <a:gridCol w="3131993"/>
                <a:gridCol w="3131993"/>
                <a:gridCol w="3131993"/>
                <a:gridCol w="3131993"/>
                <a:gridCol w="3131993"/>
              </a:tblGrid>
              <a:tr h="17191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AUTHORS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TITLE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PUBLISHED YEAR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Models Used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Source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21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Xiaoxuan Qiao</a:t>
                      </a:r>
                      <a:endParaRPr lang="en-US" sz="1100"/>
                    </a:p>
                    <a:p>
                      <a:pPr algn="ctr">
                        <a:lnSpc>
                          <a:spcPts val="307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Research on Traffic sign recognition based on CNN Deep Learning Network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2023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CNN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3rd International Conference on Machine Learning and Big Data Analytics for IoT Security and Privacy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23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Di Zang , Zhihua Wei,</a:t>
                      </a:r>
                      <a:endParaRPr lang="en-US" sz="1100"/>
                    </a:p>
                    <a:p>
                      <a:pPr algn="ctr">
                        <a:lnSpc>
                          <a:spcPts val="3079"/>
                        </a:lnSpc>
                      </a:pPr>
                      <a:r>
                        <a:rPr lang="en-US" sz="21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Maomao Bao , Jiujun Cheng,</a:t>
                      </a:r>
                    </a:p>
                    <a:p>
                      <a:pPr algn="ctr">
                        <a:lnSpc>
                          <a:spcPts val="3079"/>
                        </a:lnSpc>
                      </a:pPr>
                      <a:r>
                        <a:rPr lang="en-US" sz="21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Dongdong Zhang,</a:t>
                      </a:r>
                    </a:p>
                    <a:p>
                      <a:pPr algn="ctr">
                        <a:lnSpc>
                          <a:spcPts val="3079"/>
                        </a:lnSpc>
                      </a:pPr>
                      <a:r>
                        <a:rPr lang="en-US" sz="21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Keshuang Tang , Xin Li</a:t>
                      </a:r>
                    </a:p>
                    <a:p>
                      <a:pPr algn="ctr">
                        <a:lnSpc>
                          <a:spcPts val="307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Deep learning–based traffic sign recognition for unmanned autonomous vehicles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2018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CNN,ResNet,</a:t>
                      </a:r>
                      <a:endParaRPr lang="en-US" sz="1100"/>
                    </a:p>
                    <a:p>
                      <a:pPr algn="ctr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AlexNet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IEEE 17th International Conference on Intelligent Transportation Systems (ITSC)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1028700" y="270383"/>
            <a:ext cx="10822525" cy="1930664"/>
            <a:chOff x="0" y="0"/>
            <a:chExt cx="14430034" cy="257421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4430034" cy="1635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0"/>
                </a:lnSpc>
              </a:pPr>
              <a:r>
                <a:rPr lang="en-US" sz="8000">
                  <a:solidFill>
                    <a:srgbClr val="12121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LITERATURE REVIEW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17535"/>
              <a:ext cx="14430034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2953" y="636988"/>
            <a:ext cx="10822525" cy="1930664"/>
            <a:chOff x="0" y="0"/>
            <a:chExt cx="14430034" cy="257421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430034" cy="1635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0"/>
                </a:lnSpc>
              </a:pPr>
              <a:r>
                <a:rPr lang="en-US" sz="8000">
                  <a:solidFill>
                    <a:srgbClr val="12121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GAPS IDENTIFIED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017535"/>
              <a:ext cx="14430034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3595107"/>
            <a:ext cx="16230600" cy="5091693"/>
            <a:chOff x="0" y="0"/>
            <a:chExt cx="21640800" cy="678892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21640800" cy="56435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67"/>
                </a:lnSpc>
              </a:pPr>
            </a:p>
            <a:p>
              <a:pPr algn="l" marL="658045" indent="-329023" lvl="1">
                <a:lnSpc>
                  <a:spcPts val="4267"/>
                </a:lnSpc>
                <a:buFont typeface="Arial"/>
                <a:buChar char="•"/>
              </a:pPr>
              <a:r>
                <a:rPr lang="en-US" sz="3047" spc="45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Prior research used only CNN, which is foundational for image recognition but lacks advanced feature extraction capabilities.</a:t>
              </a:r>
            </a:p>
            <a:p>
              <a:pPr algn="l">
                <a:lnSpc>
                  <a:spcPts val="4267"/>
                </a:lnSpc>
              </a:pPr>
            </a:p>
            <a:p>
              <a:pPr algn="l" marL="658045" indent="-329023" lvl="1">
                <a:lnSpc>
                  <a:spcPts val="4267"/>
                </a:lnSpc>
                <a:buFont typeface="Arial"/>
                <a:buChar char="•"/>
              </a:pPr>
              <a:r>
                <a:rPr lang="en-US" sz="3047" spc="45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CNN models can struggle with complex patterns in traffic signs, impacting their overall accuracy.</a:t>
              </a:r>
            </a:p>
            <a:p>
              <a:pPr algn="l">
                <a:lnSpc>
                  <a:spcPts val="4267"/>
                </a:lnSpc>
              </a:pPr>
            </a:p>
            <a:p>
              <a:pPr algn="l">
                <a:lnSpc>
                  <a:spcPts val="4267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250990"/>
              <a:ext cx="21640800" cy="5379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13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2953" y="636988"/>
            <a:ext cx="10822525" cy="3149864"/>
            <a:chOff x="0" y="0"/>
            <a:chExt cx="14430034" cy="419981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430034" cy="3260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0"/>
                </a:lnSpc>
              </a:pPr>
              <a:r>
                <a:rPr lang="en-US" sz="8000">
                  <a:solidFill>
                    <a:srgbClr val="12121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PLAN TO SOLVE THE PROBLEM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643135"/>
              <a:ext cx="14430034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3595107"/>
            <a:ext cx="16230600" cy="6158493"/>
            <a:chOff x="0" y="0"/>
            <a:chExt cx="21640800" cy="821132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21640800" cy="70659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58045" indent="-329023" lvl="1">
                <a:lnSpc>
                  <a:spcPts val="4267"/>
                </a:lnSpc>
                <a:buFont typeface="Arial"/>
                <a:buChar char="•"/>
              </a:pPr>
              <a:r>
                <a:rPr lang="en-US" b="true" sz="3047" spc="45">
                  <a:solidFill>
                    <a:srgbClr val="12121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OBJECTIVE</a:t>
              </a:r>
              <a:r>
                <a:rPr lang="en-US" sz="3047" spc="45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: DEVELOP A SYSTEM THAT IMPROVES UPON BASIC CNN LIMITATIONS BY ACCURATELY DETECTING AND CLASSIFYING ROAD TRAFFIC SIGNS THROUGH ADVANCED DEEP LEARNING MODELS.</a:t>
              </a:r>
            </a:p>
            <a:p>
              <a:pPr algn="l">
                <a:lnSpc>
                  <a:spcPts val="4267"/>
                </a:lnSpc>
              </a:pPr>
            </a:p>
            <a:p>
              <a:pPr algn="l" marL="658045" indent="-329023" lvl="1">
                <a:lnSpc>
                  <a:spcPts val="4267"/>
                </a:lnSpc>
                <a:buFont typeface="Arial"/>
                <a:buChar char="•"/>
              </a:pPr>
              <a:r>
                <a:rPr lang="en-US" b="true" sz="3047" spc="45">
                  <a:solidFill>
                    <a:srgbClr val="12121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APPROACH</a:t>
              </a:r>
              <a:r>
                <a:rPr lang="en-US" sz="3047" spc="45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:</a:t>
              </a:r>
            </a:p>
            <a:p>
              <a:pPr algn="l" marL="658045" indent="-329023" lvl="1">
                <a:lnSpc>
                  <a:spcPts val="4267"/>
                </a:lnSpc>
                <a:buFont typeface="Arial"/>
                <a:buChar char="•"/>
              </a:pPr>
              <a:r>
                <a:rPr lang="en-US" sz="3047" spc="45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CONVOLUTIONAL NEURAL NETWORKS (CNNS) : TRAIN A CNN MODEL FOR TRAFFIC SIGN RECOGNITION.</a:t>
              </a:r>
            </a:p>
            <a:p>
              <a:pPr algn="l" marL="658045" indent="-329023" lvl="1">
                <a:lnSpc>
                  <a:spcPts val="4267"/>
                </a:lnSpc>
                <a:buFont typeface="Arial"/>
                <a:buChar char="•"/>
              </a:pPr>
              <a:r>
                <a:rPr lang="en-US" sz="3047" spc="45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ALEXNET &amp; VGG19 </a:t>
              </a:r>
              <a:r>
                <a:rPr lang="en-US" sz="3047" spc="45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: IMPLEMENT AND EXPERIMENT WITH BOTH MODELS.</a:t>
              </a:r>
            </a:p>
            <a:p>
              <a:pPr algn="l" marL="658045" indent="-329023" lvl="1">
                <a:lnSpc>
                  <a:spcPts val="4267"/>
                </a:lnSpc>
                <a:buFont typeface="Arial"/>
                <a:buChar char="•"/>
              </a:pPr>
              <a:r>
                <a:rPr lang="en-US" sz="3047" spc="45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COMPARE ALL MODELS BASED ON ACCURACY AND FIND THE BEST MODEL.</a:t>
              </a:r>
            </a:p>
            <a:p>
              <a:pPr algn="l" marL="658045" indent="-329023" lvl="1">
                <a:lnSpc>
                  <a:spcPts val="4267"/>
                </a:lnSpc>
                <a:buFont typeface="Arial"/>
                <a:buChar char="•"/>
              </a:pPr>
              <a:r>
                <a:rPr lang="en-US" sz="3047" spc="45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PREDICT USING ALL MODELS.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673390"/>
              <a:ext cx="21640800" cy="5379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13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89811" y="2890185"/>
            <a:ext cx="13708378" cy="4506629"/>
          </a:xfrm>
          <a:custGeom>
            <a:avLst/>
            <a:gdLst/>
            <a:ahLst/>
            <a:cxnLst/>
            <a:rect r="r" b="b" t="t" l="l"/>
            <a:pathLst>
              <a:path h="4506629" w="13708378">
                <a:moveTo>
                  <a:pt x="0" y="0"/>
                </a:moveTo>
                <a:lnTo>
                  <a:pt x="13708378" y="0"/>
                </a:lnTo>
                <a:lnTo>
                  <a:pt x="13708378" y="4506630"/>
                </a:lnTo>
                <a:lnTo>
                  <a:pt x="0" y="45066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9649" y="3042585"/>
            <a:ext cx="15797694" cy="4967630"/>
          </a:xfrm>
          <a:custGeom>
            <a:avLst/>
            <a:gdLst/>
            <a:ahLst/>
            <a:cxnLst/>
            <a:rect r="r" b="b" t="t" l="l"/>
            <a:pathLst>
              <a:path h="4967630" w="15797694">
                <a:moveTo>
                  <a:pt x="0" y="0"/>
                </a:moveTo>
                <a:lnTo>
                  <a:pt x="15797694" y="0"/>
                </a:lnTo>
                <a:lnTo>
                  <a:pt x="15797694" y="4967630"/>
                </a:lnTo>
                <a:lnTo>
                  <a:pt x="0" y="49676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768" r="0" b="-1777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42953" y="636988"/>
            <a:ext cx="10822525" cy="1930664"/>
            <a:chOff x="0" y="0"/>
            <a:chExt cx="14430034" cy="257421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4430034" cy="1635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0"/>
                </a:lnSpc>
              </a:pPr>
              <a:r>
                <a:rPr lang="en-US" sz="8000">
                  <a:solidFill>
                    <a:srgbClr val="12121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BLOCK DIAGRAM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17535"/>
              <a:ext cx="14430034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8271443"/>
            <a:ext cx="16230600" cy="415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3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7552" y="1638277"/>
            <a:ext cx="10822525" cy="1930664"/>
            <a:chOff x="0" y="0"/>
            <a:chExt cx="14430034" cy="257421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430034" cy="1635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0"/>
                </a:lnSpc>
              </a:pPr>
              <a:r>
                <a:rPr lang="en-US" sz="8000">
                  <a:solidFill>
                    <a:srgbClr val="12121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METHODOLOGY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017535"/>
              <a:ext cx="14430034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9892" y="3356738"/>
            <a:ext cx="17055814" cy="8292093"/>
            <a:chOff x="0" y="0"/>
            <a:chExt cx="22741086" cy="1105612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22741086" cy="99107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67"/>
                </a:lnSpc>
              </a:pPr>
            </a:p>
            <a:p>
              <a:pPr algn="l" marL="658045" indent="-329023" lvl="1">
                <a:lnSpc>
                  <a:spcPts val="4267"/>
                </a:lnSpc>
                <a:buFont typeface="Arial"/>
                <a:buChar char="•"/>
              </a:pPr>
              <a:r>
                <a:rPr lang="en-US" b="true" sz="3047" spc="45">
                  <a:solidFill>
                    <a:srgbClr val="12121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DATA COLLECTION - </a:t>
              </a:r>
              <a:r>
                <a:rPr lang="en-US" b="true" sz="3047" spc="45">
                  <a:solidFill>
                    <a:srgbClr val="12121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GTSRB - GERMAN TRAFFIC SIGN RECOGNITION BENCHMARK</a:t>
              </a:r>
              <a:r>
                <a:rPr lang="en-US" sz="3047" spc="45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 WHICH CONSISTS OF 43 DIFFERENT TRAFFIC SIGNS COMMONLY FOUND ON GERMAN ROADS.</a:t>
              </a:r>
            </a:p>
            <a:p>
              <a:pPr algn="l" marL="658045" indent="-329023" lvl="1">
                <a:lnSpc>
                  <a:spcPts val="4267"/>
                </a:lnSpc>
                <a:buFont typeface="Arial"/>
                <a:buChar char="•"/>
              </a:pPr>
              <a:r>
                <a:rPr lang="en-US" sz="3047" spc="45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THE TRAFFIC SIGN IMAGES ARE CROPPED FROM ACTUAL ROAD IMAGES AND ARE THEREFORE UNDER DIFFERENT LIGHTING CONDITIONS, WITH A TOTAL OF 50,000 IMAGES.</a:t>
              </a:r>
            </a:p>
            <a:p>
              <a:pPr algn="l" marL="658045" indent="-329023" lvl="1">
                <a:lnSpc>
                  <a:spcPts val="4267"/>
                </a:lnSpc>
                <a:buFont typeface="Arial"/>
                <a:buChar char="•"/>
              </a:pPr>
              <a:r>
                <a:rPr lang="en-US" b="true" sz="3047" spc="45">
                  <a:solidFill>
                    <a:srgbClr val="12121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DATA PREPROCESSING</a:t>
              </a:r>
              <a:r>
                <a:rPr lang="en-US" sz="3047" spc="45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 - RESIZING, NORMALIZATION AND DATA AUGMENTATION ARE APPLIED.</a:t>
              </a:r>
            </a:p>
            <a:p>
              <a:pPr algn="l" marL="658045" indent="-329023" lvl="1">
                <a:lnSpc>
                  <a:spcPts val="4267"/>
                </a:lnSpc>
                <a:buFont typeface="Arial"/>
                <a:buChar char="•"/>
              </a:pPr>
              <a:r>
                <a:rPr lang="en-US" b="true" sz="3047" spc="45">
                  <a:solidFill>
                    <a:srgbClr val="12121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MODEL SELECTION</a:t>
              </a:r>
              <a:r>
                <a:rPr lang="en-US" sz="3047" spc="45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 - CNN, ALEXNET, VGG19.</a:t>
              </a:r>
            </a:p>
            <a:p>
              <a:pPr algn="l" marL="658045" indent="-329023" lvl="1">
                <a:lnSpc>
                  <a:spcPts val="4267"/>
                </a:lnSpc>
                <a:buFont typeface="Arial"/>
                <a:buChar char="•"/>
              </a:pPr>
              <a:r>
                <a:rPr lang="en-US" b="true" sz="3047" spc="45">
                  <a:solidFill>
                    <a:srgbClr val="12121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MODEL TRAINING</a:t>
              </a:r>
            </a:p>
            <a:p>
              <a:pPr algn="l">
                <a:lnSpc>
                  <a:spcPts val="4267"/>
                </a:lnSpc>
              </a:pPr>
              <a:r>
                <a:rPr lang="en-US" sz="3047" spc="45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</a:p>
            <a:p>
              <a:pPr algn="l">
                <a:lnSpc>
                  <a:spcPts val="4267"/>
                </a:lnSpc>
              </a:pPr>
            </a:p>
            <a:p>
              <a:pPr algn="l">
                <a:lnSpc>
                  <a:spcPts val="4267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0518190"/>
              <a:ext cx="22741086" cy="5379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13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11871" y="3356738"/>
            <a:ext cx="4379181" cy="4587714"/>
          </a:xfrm>
          <a:custGeom>
            <a:avLst/>
            <a:gdLst/>
            <a:ahLst/>
            <a:cxnLst/>
            <a:rect r="r" b="b" t="t" l="l"/>
            <a:pathLst>
              <a:path h="4587714" w="4379181">
                <a:moveTo>
                  <a:pt x="0" y="0"/>
                </a:moveTo>
                <a:lnTo>
                  <a:pt x="4379182" y="0"/>
                </a:lnTo>
                <a:lnTo>
                  <a:pt x="4379182" y="4587714"/>
                </a:lnTo>
                <a:lnTo>
                  <a:pt x="0" y="45877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34764" y="3430674"/>
            <a:ext cx="4850626" cy="4513777"/>
          </a:xfrm>
          <a:custGeom>
            <a:avLst/>
            <a:gdLst/>
            <a:ahLst/>
            <a:cxnLst/>
            <a:rect r="r" b="b" t="t" l="l"/>
            <a:pathLst>
              <a:path h="4513777" w="4850626">
                <a:moveTo>
                  <a:pt x="0" y="0"/>
                </a:moveTo>
                <a:lnTo>
                  <a:pt x="4850626" y="0"/>
                </a:lnTo>
                <a:lnTo>
                  <a:pt x="4850626" y="4513778"/>
                </a:lnTo>
                <a:lnTo>
                  <a:pt x="0" y="4513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37552" y="1638277"/>
            <a:ext cx="10822525" cy="1930664"/>
            <a:chOff x="0" y="0"/>
            <a:chExt cx="14430034" cy="257421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4430034" cy="1635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0"/>
                </a:lnSpc>
              </a:pPr>
              <a:r>
                <a:rPr lang="en-US" sz="8000">
                  <a:solidFill>
                    <a:srgbClr val="12121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DATASET - SAMPLE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17535"/>
              <a:ext cx="14430034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70856" y="8403930"/>
            <a:ext cx="17055814" cy="1357893"/>
            <a:chOff x="0" y="0"/>
            <a:chExt cx="22741086" cy="1810524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22741086" cy="665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67"/>
                </a:lnSpc>
              </a:pPr>
              <a:r>
                <a:rPr lang="en-US" sz="3047" spc="45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                   SPEED LIMIT - 80 KM/HR                                  SLIPPERY ROAD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272590"/>
              <a:ext cx="22741086" cy="5379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13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938787" y="3224395"/>
          <a:ext cx="12384945" cy="6362769"/>
        </p:xfrm>
        <a:graphic>
          <a:graphicData uri="http://schemas.openxmlformats.org/drawingml/2006/table">
            <a:tbl>
              <a:tblPr/>
              <a:tblGrid>
                <a:gridCol w="3249230"/>
                <a:gridCol w="4139304"/>
                <a:gridCol w="4996412"/>
              </a:tblGrid>
              <a:tr h="17938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Training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Validation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29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CNN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99.23%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99.64%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29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AlexNet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99.95%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99.69%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29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VGG19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99.98%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99.87%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1412942" y="1028700"/>
            <a:ext cx="10822525" cy="1930664"/>
            <a:chOff x="0" y="0"/>
            <a:chExt cx="14430034" cy="257421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4430034" cy="1635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0"/>
                </a:lnSpc>
              </a:pPr>
              <a:r>
                <a:rPr lang="en-US" sz="8000">
                  <a:solidFill>
                    <a:srgbClr val="12121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RESULTS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17535"/>
              <a:ext cx="14430034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23194" y="2439302"/>
            <a:ext cx="12841611" cy="5408396"/>
          </a:xfrm>
          <a:custGeom>
            <a:avLst/>
            <a:gdLst/>
            <a:ahLst/>
            <a:cxnLst/>
            <a:rect r="r" b="b" t="t" l="l"/>
            <a:pathLst>
              <a:path h="5408396" w="12841611">
                <a:moveTo>
                  <a:pt x="0" y="0"/>
                </a:moveTo>
                <a:lnTo>
                  <a:pt x="12841612" y="0"/>
                </a:lnTo>
                <a:lnTo>
                  <a:pt x="12841612" y="5408396"/>
                </a:lnTo>
                <a:lnTo>
                  <a:pt x="0" y="54083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245453"/>
            <a:ext cx="18288000" cy="7702207"/>
          </a:xfrm>
          <a:custGeom>
            <a:avLst/>
            <a:gdLst/>
            <a:ahLst/>
            <a:cxnLst/>
            <a:rect r="r" b="b" t="t" l="l"/>
            <a:pathLst>
              <a:path h="7702207" w="18288000">
                <a:moveTo>
                  <a:pt x="0" y="0"/>
                </a:moveTo>
                <a:lnTo>
                  <a:pt x="18288000" y="0"/>
                </a:lnTo>
                <a:lnTo>
                  <a:pt x="18288000" y="7702207"/>
                </a:lnTo>
                <a:lnTo>
                  <a:pt x="0" y="77022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87819" y="619589"/>
            <a:ext cx="10822525" cy="1625864"/>
            <a:chOff x="0" y="0"/>
            <a:chExt cx="14430034" cy="216781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4430034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12121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EVALUATION CURVES - CNN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611135"/>
              <a:ext cx="14430034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37039" y="2683765"/>
            <a:ext cx="12813922" cy="4919471"/>
          </a:xfrm>
          <a:custGeom>
            <a:avLst/>
            <a:gdLst/>
            <a:ahLst/>
            <a:cxnLst/>
            <a:rect r="r" b="b" t="t" l="l"/>
            <a:pathLst>
              <a:path h="4919471" w="12813922">
                <a:moveTo>
                  <a:pt x="0" y="0"/>
                </a:moveTo>
                <a:lnTo>
                  <a:pt x="12813922" y="0"/>
                </a:lnTo>
                <a:lnTo>
                  <a:pt x="12813922" y="4919470"/>
                </a:lnTo>
                <a:lnTo>
                  <a:pt x="0" y="49194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855543"/>
            <a:ext cx="18288000" cy="6938535"/>
          </a:xfrm>
          <a:custGeom>
            <a:avLst/>
            <a:gdLst/>
            <a:ahLst/>
            <a:cxnLst/>
            <a:rect r="r" b="b" t="t" l="l"/>
            <a:pathLst>
              <a:path h="6938535" w="18288000">
                <a:moveTo>
                  <a:pt x="0" y="0"/>
                </a:moveTo>
                <a:lnTo>
                  <a:pt x="18288000" y="0"/>
                </a:lnTo>
                <a:lnTo>
                  <a:pt x="18288000" y="6938535"/>
                </a:lnTo>
                <a:lnTo>
                  <a:pt x="0" y="69385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4" r="0" b="-594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3899" y="499987"/>
            <a:ext cx="13262400" cy="1625864"/>
            <a:chOff x="0" y="0"/>
            <a:chExt cx="17683200" cy="216781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7683200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12121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EVALUATION CURVES - ALEXNET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611135"/>
              <a:ext cx="17683200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324213"/>
            <a:ext cx="18288000" cy="5638574"/>
          </a:xfrm>
          <a:custGeom>
            <a:avLst/>
            <a:gdLst/>
            <a:ahLst/>
            <a:cxnLst/>
            <a:rect r="r" b="b" t="t" l="l"/>
            <a:pathLst>
              <a:path h="5638574" w="18288000">
                <a:moveTo>
                  <a:pt x="0" y="0"/>
                </a:moveTo>
                <a:lnTo>
                  <a:pt x="18288000" y="0"/>
                </a:lnTo>
                <a:lnTo>
                  <a:pt x="18288000" y="5638574"/>
                </a:lnTo>
                <a:lnTo>
                  <a:pt x="0" y="56385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63899" y="523907"/>
            <a:ext cx="11851100" cy="1625864"/>
            <a:chOff x="0" y="0"/>
            <a:chExt cx="15801467" cy="216781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5801467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12121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EVALUATION CURVES - VGG19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611135"/>
              <a:ext cx="15801467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1208" y="1600108"/>
            <a:ext cx="17865585" cy="8071632"/>
          </a:xfrm>
          <a:custGeom>
            <a:avLst/>
            <a:gdLst/>
            <a:ahLst/>
            <a:cxnLst/>
            <a:rect r="r" b="b" t="t" l="l"/>
            <a:pathLst>
              <a:path h="8071632" w="17865585">
                <a:moveTo>
                  <a:pt x="0" y="0"/>
                </a:moveTo>
                <a:lnTo>
                  <a:pt x="17865584" y="0"/>
                </a:lnTo>
                <a:lnTo>
                  <a:pt x="17865584" y="8071632"/>
                </a:lnTo>
                <a:lnTo>
                  <a:pt x="0" y="80716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16058" y="284704"/>
            <a:ext cx="10822525" cy="1930664"/>
            <a:chOff x="0" y="0"/>
            <a:chExt cx="14430034" cy="257421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4430034" cy="1635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0"/>
                </a:lnSpc>
              </a:pPr>
              <a:r>
                <a:rPr lang="en-US" sz="8000">
                  <a:solidFill>
                    <a:srgbClr val="12121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SCREENSHOTS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17535"/>
              <a:ext cx="14430034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5863" y="1585158"/>
            <a:ext cx="17856275" cy="8071632"/>
          </a:xfrm>
          <a:custGeom>
            <a:avLst/>
            <a:gdLst/>
            <a:ahLst/>
            <a:cxnLst/>
            <a:rect r="r" b="b" t="t" l="l"/>
            <a:pathLst>
              <a:path h="8071632" w="17856275">
                <a:moveTo>
                  <a:pt x="0" y="0"/>
                </a:moveTo>
                <a:lnTo>
                  <a:pt x="17856274" y="0"/>
                </a:lnTo>
                <a:lnTo>
                  <a:pt x="17856274" y="8071632"/>
                </a:lnTo>
                <a:lnTo>
                  <a:pt x="0" y="80716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16058" y="284704"/>
            <a:ext cx="10822525" cy="1930664"/>
            <a:chOff x="0" y="0"/>
            <a:chExt cx="14430034" cy="257421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4430034" cy="1635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0"/>
                </a:lnSpc>
              </a:pPr>
              <a:r>
                <a:rPr lang="en-US" sz="8000">
                  <a:solidFill>
                    <a:srgbClr val="12121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SCREENSHOTS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17535"/>
              <a:ext cx="14430034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2101" y="250897"/>
            <a:ext cx="10822525" cy="1930664"/>
            <a:chOff x="0" y="0"/>
            <a:chExt cx="14430034" cy="257421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430034" cy="1635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0"/>
                </a:lnSpc>
              </a:pPr>
              <a:r>
                <a:rPr lang="en-US" sz="8000">
                  <a:solidFill>
                    <a:srgbClr val="12121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FUTURE SCOPE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017535"/>
              <a:ext cx="14430034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6093" y="2851330"/>
            <a:ext cx="17055814" cy="6691893"/>
            <a:chOff x="0" y="0"/>
            <a:chExt cx="22741086" cy="892252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22741086" cy="7777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58045" indent="-329023" lvl="1">
                <a:lnSpc>
                  <a:spcPts val="4267"/>
                </a:lnSpc>
                <a:buFont typeface="Arial"/>
                <a:buChar char="•"/>
              </a:pPr>
              <a:r>
                <a:rPr lang="en-US" b="true" sz="3047" spc="45">
                  <a:solidFill>
                    <a:srgbClr val="12121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HYBRID MODEL WITH NLP FOR TEXT-BASED SIGNS</a:t>
              </a:r>
              <a:r>
                <a:rPr lang="en-US" sz="3047" spc="45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: MANY TRAFFIC SIGNS INCLUDE TEXT (E.G., “SPEED LIMIT 60”). COMBINE YOUR CNN-BASED MODEL WITH NATURAL LANGUAGE PROCESSING (NLP) TO RECOGNIZE AND INTERPRET TEXT ON SIGNS ACCURATELY, EXPANDING THE SYSTEM'S ABILITY TO HANDLE COMPLEX SIGN TYPES.</a:t>
              </a:r>
            </a:p>
            <a:p>
              <a:pPr algn="just">
                <a:lnSpc>
                  <a:spcPts val="4267"/>
                </a:lnSpc>
              </a:pPr>
            </a:p>
            <a:p>
              <a:pPr algn="just" marL="658045" indent="-329023" lvl="1">
                <a:lnSpc>
                  <a:spcPts val="4267"/>
                </a:lnSpc>
                <a:buFont typeface="Arial"/>
                <a:buChar char="•"/>
              </a:pPr>
              <a:r>
                <a:rPr lang="en-US" b="true" sz="3047" spc="45">
                  <a:solidFill>
                    <a:srgbClr val="12121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IOT VEHICLE DEMO WITH REAL-TIME DETECTION AND VOICE ALERTS</a:t>
              </a:r>
              <a:r>
                <a:rPr lang="en-US" sz="3047" spc="45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: DEPLOY THE SYSTEM ON IOT-ENABLED DEMO VEHICLES TO CAPTURE AND PREDICT TRAFFIC SIGNS IN REAL TIME, PROVIDING VOICE ALERTS FOR DRIVER ASSISTANCE AND SHOWCASING IOT AND AI INTEGRATION FOR ROAD SAFETY.</a:t>
              </a:r>
            </a:p>
            <a:p>
              <a:pPr algn="just">
                <a:lnSpc>
                  <a:spcPts val="4267"/>
                </a:lnSpc>
              </a:pPr>
            </a:p>
            <a:p>
              <a:pPr algn="just">
                <a:lnSpc>
                  <a:spcPts val="4267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8384590"/>
              <a:ext cx="22741086" cy="5379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13"/>
                </a:lnSpc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07610" y="3658256"/>
            <a:ext cx="9370478" cy="2970487"/>
            <a:chOff x="0" y="0"/>
            <a:chExt cx="12493971" cy="396065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2493971" cy="2447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400"/>
                </a:lnSpc>
              </a:pPr>
              <a:r>
                <a:rPr lang="en-US" sz="120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Thank you!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84375"/>
              <a:ext cx="12493971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DAGMJRJQpAU</dc:identifier>
  <dcterms:modified xsi:type="dcterms:W3CDTF">2011-08-01T06:04:30Z</dcterms:modified>
  <cp:revision>1</cp:revision>
  <dc:title>Traffic Sign Recognition</dc:title>
</cp:coreProperties>
</file>